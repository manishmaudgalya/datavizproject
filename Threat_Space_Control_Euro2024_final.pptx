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86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0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github.com/ManishMaudgalya/DataVizProject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0"/>
            <a:ext cx="78638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4320"/>
            <a:ext cx="4779818" cy="6629400"/>
          </a:xfrm>
          <a:prstGeom prst="rect">
            <a:avLst/>
          </a:prstGeom>
          <a:solidFill>
            <a:srgbClr val="0B0C10">
              <a:alpha val="88000"/>
            </a:srgbClr>
          </a:solidFill>
          <a:ln w="12700">
            <a:solidFill>
              <a:srgbClr val="0B0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8288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VISUALIZATION  ·  FINAL PROJECT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2880" y="121158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THREAT, SPACE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CONTROL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182880" y="3611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football analytics for UEFA Euro 2024 — built on StatsBomb open data, served through Streamlit, styled in neon.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36576" cy="1280160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 BY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Shreyash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Nadgouda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 Maudgalya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8288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STATSBOMB  ·  STREAMLIT  ·  PYTHON 3.10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counting. Toward space.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57200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analytics has been stuck on counts.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tallies, shot totals, possession percentages — these summarize a match without explaining it. They tell you what happened, never where it mattered or how dangerous it was.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replaces those flat metrics with three spatial models that read the pitch the way a coach does: where threat lives, who controls space, and how the ball flows between players.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69164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0D1117"/>
          </a:solidFill>
          <a:ln w="19050">
            <a:solidFill>
              <a:srgbClr val="66FCF1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0" y="1691640"/>
            <a:ext cx="73152" cy="1325880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84248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55280" y="1856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600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55280" y="22860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Threat (Markov chain) and Voronoi pitch control instead of pass counts.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320040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0D1117"/>
          </a:solidFill>
          <a:ln w="19050">
            <a:solidFill>
              <a:srgbClr val="FF00FF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66560" y="3200400"/>
            <a:ext cx="73152" cy="132588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493008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55280" y="3364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600" dirty="0">
                <a:solidFill>
                  <a:srgbClr val="FF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955280" y="37947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cache_data turns 3–4s loads into &lt;100ms after first fetch.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766560" y="470916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0D1117"/>
          </a:solidFill>
          <a:ln w="19050">
            <a:solidFill>
              <a:srgbClr val="F5C518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766560" y="4709160"/>
            <a:ext cx="73152" cy="1325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5001768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55280" y="48737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6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7955280" y="53035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iterative-glow theme — every chart is recognisable at a glance.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6565392"/>
            <a:ext cx="164592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· SPACE · CONTROL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DATA  +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JSON on GitHub to a live dashboard.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57200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 2024 matches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6276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events parsed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6276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× 80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Yards · pitch grid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52560" y="16276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52560" y="2240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files / match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640"/>
            <a:ext cx="11247120" cy="35204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199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fetch is cached with @st.cache_data — the network call happens once per match per session, then everything is in-memory.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6565392"/>
            <a:ext cx="164592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· SPACE · CONTROL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THE 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Threat — a Markov chain over the pitch.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57200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905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BELLMAN  EQUATION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xT(z) = </a:t>
            </a:r>
            <a:r>
              <a:rPr lang="en-US" sz="17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(shoot|z) · </a:t>
            </a:r>
            <a:r>
              <a:rPr lang="en-US" sz="17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(goal|shoot,z)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+ </a:t>
            </a:r>
            <a:r>
              <a:rPr lang="en-US" sz="17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(move|z) · Σ </a:t>
            </a:r>
            <a:r>
              <a:rPr lang="en-US" sz="17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(z→z') · </a:t>
            </a:r>
            <a:r>
              <a:rPr lang="en-US" sz="1700" b="1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</a:t>
            </a: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(z')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divided into a 12 × 8 grid (96 zones).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value iteration — converges in 20–30 passes once max change &lt; 1e-5.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matrix flattened to (96 × 96) for a single matrix-vector multiply per iteration.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xT Added = xT(end) − xT(start). Positive = ball moved into more dangerous space.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486400" cy="3200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49834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0" y="5074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P(shoot|z)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080" y="5440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shot rate per zone (Bayesian-smoothed).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92440" y="49834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92440" y="5074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P(goal|shoot)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83880" y="5440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rate, blended with a geometric prior.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921240" y="4983480"/>
            <a:ext cx="173736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27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921240" y="5074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T(z → z')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12680" y="5440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probabilities from passes &amp; carries.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5943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20–30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iterations  ·  </a:t>
            </a:r>
            <a:r>
              <a:rPr lang="en-US" sz="1200" b="1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 ms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 solve / match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6565392"/>
            <a:ext cx="164592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· SPACE · CONTROL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GRAPH  THEORY  ON  GRASS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Network — who connects, where, and how often.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57200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4008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  ·  Pass network — node = mean position, size = pass volume, edge = pair frequency.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78040" y="1691640"/>
            <a:ext cx="777240" cy="77724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288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9244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players.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092440" y="21488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= mean (x, y) across every pass they made in the window — their tactical role this match, not a season average. Size scales with pass count.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3200400"/>
            <a:ext cx="777240" cy="77724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3375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9244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connections.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092440" y="36576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and opacity both encode pass frequency between a pair. The thickest cyan lines are the team's primary circulation lanes.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178040" y="4709160"/>
            <a:ext cx="777240" cy="77724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4632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9244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Shape, side-by-side.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092440" y="51663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strips the edges and renders both teams' average positions on twin pitches — instant tactical comparison.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178040" y="594360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315200" y="5989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 </a:t>
            </a:r>
            <a:r>
              <a:rPr lang="en-US" sz="11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Toni Kroos · 84 passes · top: Gündoğan (19)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6565392"/>
            <a:ext cx="164592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· SPACE · CONTROL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SPATIAL 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space — and who threatens it?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57200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566928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VORONOI  PITCH  CONTROL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5669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grid cell on a 240×160 raster is assigned to its nearest player at the freeze-frame instant. Cyan = attacking team's space, magenta = defending team's. The gold diamond marks the ball-holder.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08760"/>
            <a:ext cx="5669280" cy="3794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THREAT-ADDED  ARROWS  (xT)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92240" y="5669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completed pass or carry, rendered with iterative glow. Brightness and width scale with xT Added — the move's contribution to scoring probability.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6565392"/>
            <a:ext cx="164592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· SPACE · CONTROL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THE 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tabs, one Cyberpunk language.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57200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524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Network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 over pitch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17520" y="160020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524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15468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Shape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15468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positions, side-by-side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0" y="160020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5240">
            <a:solidFill>
              <a:srgbClr val="FF0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62356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2356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Control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6235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from 360° freeze-frame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182112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524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85800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331927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3776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Threat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85800" y="4142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12×8 heatmap + arrow map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017520" y="3182112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524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3154680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319272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154680" y="3776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Map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3154680" y="4142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 bubbles, both teams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486400" y="3182112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0D1117"/>
          </a:solidFill>
          <a:ln w="1524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5623560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3319272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23560" y="3776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Explorer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5623560" y="4142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raw events, plot + table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7909560" y="1600200"/>
            <a:ext cx="3840480" cy="4526280"/>
          </a:xfrm>
          <a:prstGeom prst="roundRect">
            <a:avLst>
              <a:gd name="adj" fmla="val 1905"/>
            </a:avLst>
          </a:prstGeom>
          <a:solidFill>
            <a:srgbClr val="0D1117"/>
          </a:solidFill>
          <a:ln w="1524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809244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 SYSTEM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80924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· Neon · Dark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8138160" y="2560320"/>
            <a:ext cx="384048" cy="292608"/>
          </a:xfrm>
          <a:prstGeom prst="rect">
            <a:avLst/>
          </a:prstGeom>
          <a:solidFill>
            <a:srgbClr val="0B0C10"/>
          </a:solidFill>
          <a:ln w="6350">
            <a:solidFill>
              <a:srgbClr val="1F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8622792" y="25786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8138160" y="2944368"/>
            <a:ext cx="384048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1F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8622792" y="29626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 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8138160" y="3328416"/>
            <a:ext cx="384048" cy="292608"/>
          </a:xfrm>
          <a:prstGeom prst="rect">
            <a:avLst/>
          </a:prstGeom>
          <a:solidFill>
            <a:srgbClr val="66FCF1"/>
          </a:solidFill>
          <a:ln w="6350">
            <a:solidFill>
              <a:srgbClr val="1F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8622792" y="33467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Cyan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8138160" y="3712464"/>
            <a:ext cx="384048" cy="292608"/>
          </a:xfrm>
          <a:prstGeom prst="rect">
            <a:avLst/>
          </a:prstGeom>
          <a:solidFill>
            <a:srgbClr val="FF00FF"/>
          </a:solidFill>
          <a:ln w="6350">
            <a:solidFill>
              <a:srgbClr val="1F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8622792" y="3730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Magenta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8138160" y="4096512"/>
            <a:ext cx="384048" cy="292608"/>
          </a:xfrm>
          <a:prstGeom prst="rect">
            <a:avLst/>
          </a:prstGeom>
          <a:solidFill>
            <a:srgbClr val="F5C518"/>
          </a:solidFill>
          <a:ln w="6350">
            <a:solidFill>
              <a:srgbClr val="1F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8622792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8138160" y="4480560"/>
            <a:ext cx="384048" cy="292608"/>
          </a:xfrm>
          <a:prstGeom prst="rect">
            <a:avLst/>
          </a:prstGeom>
          <a:solidFill>
            <a:srgbClr val="C5C6C7"/>
          </a:solidFill>
          <a:ln w="6350">
            <a:solidFill>
              <a:srgbClr val="1F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8622792" y="4498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8138160" y="5120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  GLOW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8138160" y="5394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457200" y="6565392"/>
            <a:ext cx="164592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· SPACE · CONTROL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7" y="342900"/>
            <a:ext cx="6812280" cy="6812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400" dirty="0">
                <a:solidFill>
                  <a:srgbClr val="66F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 STAGE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205740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on to the project demo now…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to the live </a:t>
            </a:r>
            <a:r>
              <a:rPr lang="en-US" sz="1800" i="1" dirty="0" err="1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800" i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367734" y="4526280"/>
            <a:ext cx="1021385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966" y="4732020"/>
            <a:ext cx="502920" cy="502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586985" y="4526280"/>
            <a:ext cx="1021385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387" y="470916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49240" y="47365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566412" y="4503420"/>
            <a:ext cx="1021385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5644" y="4712069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Shreyash Nadgouda</a:t>
            </a: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 Maudgalya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457200" y="6565392"/>
            <a:ext cx="164592" cy="36576"/>
          </a:xfrm>
          <a:prstGeom prst="rect">
            <a:avLst/>
          </a:prstGeom>
          <a:solidFill>
            <a:srgbClr val="66FCF1"/>
          </a:solidFill>
          <a:ln w="12700">
            <a:solidFill>
              <a:srgbClr val="66F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 · SPACE · CONTROL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0820095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9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01BB1AD3-869A-ED4F-60C1-CEDAE2CB5968}"/>
              </a:ext>
            </a:extLst>
          </p:cNvPr>
          <p:cNvSpPr/>
          <p:nvPr/>
        </p:nvSpPr>
        <p:spPr>
          <a:xfrm>
            <a:off x="472440" y="37947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i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https://</a:t>
            </a:r>
            <a:r>
              <a:rPr lang="en-US" i="1" dirty="0" err="1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github.com</a:t>
            </a:r>
            <a:r>
              <a:rPr lang="en-US" i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/</a:t>
            </a:r>
            <a:r>
              <a:rPr lang="en-US" i="1" dirty="0" err="1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ManishMaudgalya</a:t>
            </a:r>
            <a:r>
              <a:rPr lang="en-US" i="1" dirty="0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/</a:t>
            </a:r>
            <a:r>
              <a:rPr lang="en-US" i="1" dirty="0" err="1">
                <a:solidFill>
                  <a:srgbClr val="66FCF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DataVizProject.git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813</Words>
  <Application>Microsoft Macintosh PowerPoint</Application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 Visualization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Threat, Space &amp; Control — Euro 2024 Analytics</dc:title>
  <dc:subject>PptxGenJS Presentation</dc:subject>
  <dc:creator>Shreesh Nadgouda &amp; Manish Maudgalya</dc:creator>
  <cp:lastModifiedBy>Suresh Maudgalya, Manish</cp:lastModifiedBy>
  <cp:revision>5</cp:revision>
  <dcterms:created xsi:type="dcterms:W3CDTF">2026-04-28T00:58:34Z</dcterms:created>
  <dcterms:modified xsi:type="dcterms:W3CDTF">2026-04-28T17:42:39Z</dcterms:modified>
</cp:coreProperties>
</file>